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74" r:id="rId4"/>
    <p:sldId id="275" r:id="rId5"/>
    <p:sldId id="276" r:id="rId6"/>
    <p:sldId id="277" r:id="rId7"/>
    <p:sldId id="279" r:id="rId8"/>
    <p:sldId id="278" r:id="rId9"/>
    <p:sldId id="280" r:id="rId10"/>
    <p:sldId id="281" r:id="rId11"/>
    <p:sldId id="282" r:id="rId12"/>
    <p:sldId id="283" r:id="rId13"/>
    <p:sldId id="284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6" r:id="rId23"/>
    <p:sldId id="267" r:id="rId24"/>
    <p:sldId id="265" r:id="rId25"/>
    <p:sldId id="268" r:id="rId26"/>
    <p:sldId id="269" r:id="rId27"/>
    <p:sldId id="270" r:id="rId28"/>
    <p:sldId id="271" r:id="rId29"/>
    <p:sldId id="272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1210" y="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4D08B-71E8-6041-313E-9BFB7542AE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42A44E-D20C-2B03-DC04-D2E2A4FB74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0EA9C-BCC1-A416-51FF-0D6EB1A7D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AD9C9-1248-4F36-9B60-C2E9CFC92A78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6AD2E-5320-266A-2FB5-5BE138FC0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0AE08-29D3-899B-2A06-2EC3E4BD9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A806D-6D86-4BFA-8648-1E0FEAEE8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178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5DB44-0F61-00CB-8C9F-18B689DC4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508E4-E729-720A-27B0-3F41054B3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9B6144-1D61-4EF0-29D4-C352D3751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AD9C9-1248-4F36-9B60-C2E9CFC92A78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B3822-7317-D4CE-DF5F-EDE1FA9C4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834A52-040E-A8DF-2006-204A37EE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A806D-6D86-4BFA-8648-1E0FEAEE8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18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ABD4C-6393-28F3-6A64-34C523600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308842-FD50-09E8-92CD-343E3CD14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68714-CF40-E8C4-4222-F92B6EAF9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AD9C9-1248-4F36-9B60-C2E9CFC92A78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AA6F4-403A-A685-8C8E-3ECB6AD32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56C4A-8901-2518-EED8-48B331D45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A806D-6D86-4BFA-8648-1E0FEAEE8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871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3F409-D06D-5282-BE20-474D681A9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77FCF-9341-15A4-BAEF-B7E4304E26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8C5-6C09-A9A7-7C97-D90B08A2BC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E40D0F-AB05-E171-8DDA-5A58F6120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AD9C9-1248-4F36-9B60-C2E9CFC92A78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AE4575-FE31-E59D-87BC-9378663DF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713A45-691D-A867-54AF-C997A033C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A806D-6D86-4BFA-8648-1E0FEAEE8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337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031A0-DCCA-DFD8-0D45-63690FF6F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F409F7-B6FE-4D55-95F0-C4B20DEE6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C5B714-E044-BA36-9D72-350E69C039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37D2EC-B2DB-68C1-A384-0E7244FEFD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71CCC8-1F84-88BE-0698-771F1B4B8F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0B760C-8669-D1DC-1EE2-E62F4E18D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AD9C9-1248-4F36-9B60-C2E9CFC92A78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AEE54-4EF6-2A91-BE7E-2D18DA2E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1D72C2-25E0-FD1E-D2D8-108BD0E07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A806D-6D86-4BFA-8648-1E0FEAEE8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655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C0841-BD5F-684C-089B-562E10AAE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845AE5-DA50-9BB9-DBCB-2672F97DD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AD9C9-1248-4F36-9B60-C2E9CFC92A78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ABE544-B186-7FA5-8E49-40210A398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298CD1-925C-F78C-7AAC-24E05CEA4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A806D-6D86-4BFA-8648-1E0FEAEE8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504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E7F5B4-8856-C09C-DDA2-6CB1A2403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AD9C9-1248-4F36-9B60-C2E9CFC92A78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D4ED5D-F26C-8A27-8067-2EF5A470B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0FF83-0916-238B-2DD0-E725043CC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A806D-6D86-4BFA-8648-1E0FEAEE8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412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4107B-D3D9-818D-84A2-9BEF28737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E2E00-763E-5413-DC15-7FB7CBF63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7C9404-D0A7-5093-5DAA-68381AAAA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C34730-0AF5-9514-C343-7414AC421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AD9C9-1248-4F36-9B60-C2E9CFC92A78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5025FD-8ADB-EF18-9359-3A8E14726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C886F-756F-1026-87AA-ACA660932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A806D-6D86-4BFA-8648-1E0FEAEE8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825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FB4EE-4350-56F3-5A31-EBF5BA90A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A571CC-CF52-0DA1-04D3-5F59F223EA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51D5E7-BF5D-43E3-5F43-A1587653F9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D278D-F232-3959-47D1-FC629EAA4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AD9C9-1248-4F36-9B60-C2E9CFC92A78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56088C-D8F8-6301-31A3-803473B69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D01E3F-44A9-F75B-EA54-3C313179D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A806D-6D86-4BFA-8648-1E0FEAEE8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177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982BC-5ABD-445C-3274-306BE668C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FA3B2C-BA52-9E5F-B040-897349258E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1962B-C96C-50D7-FFE7-1F1542EA0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AD9C9-1248-4F36-9B60-C2E9CFC92A78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15340-8D93-F41D-F09D-58445987D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9A599-69CC-ABB0-B927-F2CD19F5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A806D-6D86-4BFA-8648-1E0FEAEE8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616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244F85-89B4-121C-EED8-D0F62CB248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C5312B-DAB0-A670-5C7A-93D2C4A50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DE629-593D-C22C-DE0E-431144125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AD9C9-1248-4F36-9B60-C2E9CFC92A78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DC3FF-0E23-4C98-C13C-A370E3771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2FC63-463C-3010-D9EE-6542144C9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A806D-6D86-4BFA-8648-1E0FEAEE8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16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1BEB3B-80D8-DFD2-E4A5-309E4A89D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F25B4D-A599-FDC2-4E3C-B9A969C3C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77837-66C7-2317-E3DE-AA68A464D7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0AD9C9-1248-4F36-9B60-C2E9CFC92A78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08B6C-D55E-1776-8ADF-2C04D46060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C64A7-D078-3AE8-0C2C-FD6279C7C4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BA806D-6D86-4BFA-8648-1E0FEAEE8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579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hyperlink" Target="https://abhiandroid.com/ui/textview/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abhiandroid.com/ui/textview/" TargetMode="External"/><Relationship Id="rId2" Type="http://schemas.openxmlformats.org/officeDocument/2006/relationships/hyperlink" Target="https://abhiandroid.com/ui/edittext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abhiandroid.com/ui/textview/" TargetMode="External"/><Relationship Id="rId2" Type="http://schemas.openxmlformats.org/officeDocument/2006/relationships/hyperlink" Target="https://abhiandroid.com/ui/edittext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abhiandroid.com/ui/textview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abhiandroid.com/ui/button/" TargetMode="External"/><Relationship Id="rId2" Type="http://schemas.openxmlformats.org/officeDocument/2006/relationships/hyperlink" Target="https://abhiandroid.com/ui/checkbox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abhiandroid.com/ui/switch/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abhiandroid.com/ui/button/" TargetMode="External"/><Relationship Id="rId2" Type="http://schemas.openxmlformats.org/officeDocument/2006/relationships/hyperlink" Target="https://abhiandroid.com/ui/radiobutton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abhiandroid.com/ui/togglebutton/" TargetMode="External"/><Relationship Id="rId2" Type="http://schemas.openxmlformats.org/officeDocument/2006/relationships/hyperlink" Target="https://abhiandroid.com/ui/button/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jpeg"/><Relationship Id="rId4" Type="http://schemas.openxmlformats.org/officeDocument/2006/relationships/hyperlink" Target="https://abhiandroid.com/ui/radiobutton/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19CEF3-38C6-0538-0CE6-87E965101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63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214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Application Project Folder Structure">
            <a:extLst>
              <a:ext uri="{FF2B5EF4-FFF2-40B4-BE49-F238E27FC236}">
                <a16:creationId xmlns:a16="http://schemas.microsoft.com/office/drawing/2014/main" id="{85848BFC-E327-B8DC-A1B4-39ED2FB88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8221" y="678411"/>
            <a:ext cx="7613779" cy="5974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A848FD-5915-3079-28E5-F7A18CECC526}"/>
              </a:ext>
            </a:extLst>
          </p:cNvPr>
          <p:cNvSpPr txBox="1"/>
          <p:nvPr/>
        </p:nvSpPr>
        <p:spPr>
          <a:xfrm>
            <a:off x="1089349" y="114244"/>
            <a:ext cx="914322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400" b="1" dirty="0">
                <a:solidFill>
                  <a:srgbClr val="008000"/>
                </a:solidFill>
                <a:latin typeface="calibri" panose="020F0502020204030204" pitchFamily="34" charset="0"/>
              </a:rPr>
              <a:t>Android App / Project Folder Structure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EA077A-1B18-BE57-364E-62CEAD6F73A4}"/>
              </a:ext>
            </a:extLst>
          </p:cNvPr>
          <p:cNvSpPr txBox="1"/>
          <p:nvPr/>
        </p:nvSpPr>
        <p:spPr>
          <a:xfrm>
            <a:off x="128296" y="920621"/>
            <a:ext cx="444992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dirty="0">
                <a:solidFill>
                  <a:srgbClr val="4E4E4E"/>
                </a:solidFill>
                <a:effectLst/>
                <a:latin typeface="Segoe UI" panose="020B0502040204020203" pitchFamily="34" charset="0"/>
              </a:rPr>
              <a:t>The Android project structure on the disk might be differs from the above representation. To see the actual file structure of the project, select </a:t>
            </a:r>
            <a:r>
              <a:rPr lang="en-US" sz="3200" b="1" i="0" dirty="0">
                <a:solidFill>
                  <a:srgbClr val="4E4E4E"/>
                </a:solidFill>
                <a:effectLst/>
                <a:latin typeface="Segoe UI" panose="020B0502040204020203" pitchFamily="34" charset="0"/>
              </a:rPr>
              <a:t>Project</a:t>
            </a:r>
            <a:r>
              <a:rPr lang="en-US" sz="3200" b="0" i="0" dirty="0">
                <a:solidFill>
                  <a:srgbClr val="4E4E4E"/>
                </a:solidFill>
                <a:effectLst/>
                <a:latin typeface="Segoe UI" panose="020B0502040204020203" pitchFamily="34" charset="0"/>
              </a:rPr>
              <a:t> from the </a:t>
            </a:r>
            <a:r>
              <a:rPr lang="en-US" sz="3200" b="1" i="0" dirty="0">
                <a:solidFill>
                  <a:srgbClr val="4E4E4E"/>
                </a:solidFill>
                <a:effectLst/>
                <a:latin typeface="Segoe UI" panose="020B0502040204020203" pitchFamily="34" charset="0"/>
              </a:rPr>
              <a:t>Project</a:t>
            </a:r>
            <a:r>
              <a:rPr lang="en-US" sz="3200" b="0" i="0" dirty="0">
                <a:solidFill>
                  <a:srgbClr val="4E4E4E"/>
                </a:solidFill>
                <a:effectLst/>
                <a:latin typeface="Segoe UI" panose="020B0502040204020203" pitchFamily="34" charset="0"/>
              </a:rPr>
              <a:t> dropdown instead of </a:t>
            </a:r>
            <a:r>
              <a:rPr lang="en-US" sz="3200" b="1" i="0" dirty="0">
                <a:solidFill>
                  <a:srgbClr val="4E4E4E"/>
                </a:solidFill>
                <a:effectLst/>
                <a:latin typeface="Segoe UI" panose="020B0502040204020203" pitchFamily="34" charset="0"/>
              </a:rPr>
              <a:t>Android</a:t>
            </a:r>
            <a:r>
              <a:rPr lang="en-US" sz="3200" b="0" i="0" dirty="0">
                <a:solidFill>
                  <a:srgbClr val="4E4E4E"/>
                </a:solidFill>
                <a:effectLst/>
                <a:latin typeface="Segoe UI" panose="020B0502040204020203" pitchFamily="34" charset="0"/>
              </a:rPr>
              <a:t>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93595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ndroid App Java Folder Structure">
            <a:extLst>
              <a:ext uri="{FF2B5EF4-FFF2-40B4-BE49-F238E27FC236}">
                <a16:creationId xmlns:a16="http://schemas.microsoft.com/office/drawing/2014/main" id="{D47F49C0-B53A-480C-15C1-55AE44250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837" y="1602087"/>
            <a:ext cx="10282335" cy="4768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6A6147-7383-CA2D-5699-E0D1C4738EA9}"/>
              </a:ext>
            </a:extLst>
          </p:cNvPr>
          <p:cNvSpPr txBox="1"/>
          <p:nvPr/>
        </p:nvSpPr>
        <p:spPr>
          <a:xfrm>
            <a:off x="1347107" y="0"/>
            <a:ext cx="870779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dirty="0">
                <a:solidFill>
                  <a:srgbClr val="4E4E4E"/>
                </a:solidFill>
                <a:effectLst/>
                <a:latin typeface="Segoe UI" panose="020B0502040204020203" pitchFamily="34" charset="0"/>
              </a:rPr>
              <a:t>by default the class file </a:t>
            </a:r>
            <a:r>
              <a:rPr lang="en-US" sz="3200" b="1" dirty="0">
                <a:solidFill>
                  <a:srgbClr val="FFC000"/>
                </a:solidFill>
                <a:latin typeface="Segoe UI" panose="020B0502040204020203" pitchFamily="34" charset="0"/>
              </a:rPr>
              <a:t>MainActivity.java </a:t>
            </a:r>
            <a:r>
              <a:rPr lang="en-US" sz="3200" b="0" i="0" dirty="0">
                <a:solidFill>
                  <a:srgbClr val="4E4E4E"/>
                </a:solidFill>
                <a:effectLst/>
                <a:latin typeface="Segoe UI" panose="020B0502040204020203" pitchFamily="34" charset="0"/>
              </a:rPr>
              <a:t>will create automatically under the package name “</a:t>
            </a:r>
            <a:r>
              <a:rPr lang="en-US" sz="3200" b="1" i="0" dirty="0" err="1">
                <a:solidFill>
                  <a:srgbClr val="FFC000"/>
                </a:solidFill>
                <a:effectLst/>
                <a:latin typeface="Segoe UI" panose="020B0502040204020203" pitchFamily="34" charset="0"/>
              </a:rPr>
              <a:t>com.tutlane.helloworld</a:t>
            </a:r>
            <a:r>
              <a:rPr lang="en-US" sz="3200" b="0" i="0" dirty="0">
                <a:solidFill>
                  <a:srgbClr val="4E4E4E"/>
                </a:solidFill>
                <a:effectLst/>
                <a:latin typeface="Segoe UI" panose="020B0502040204020203" pitchFamily="34" charset="0"/>
              </a:rPr>
              <a:t>” like as shown below.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94822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C87990-1FA9-471E-11A8-CE97F6C4F987}"/>
              </a:ext>
            </a:extLst>
          </p:cNvPr>
          <p:cNvSpPr txBox="1"/>
          <p:nvPr/>
        </p:nvSpPr>
        <p:spPr>
          <a:xfrm>
            <a:off x="118966" y="0"/>
            <a:ext cx="609755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400" b="1" dirty="0">
                <a:solidFill>
                  <a:srgbClr val="008000"/>
                </a:solidFill>
                <a:latin typeface="calibri" panose="020F0502020204030204" pitchFamily="34" charset="0"/>
              </a:rPr>
              <a:t>res (Resources) Folder</a:t>
            </a:r>
          </a:p>
        </p:txBody>
      </p:sp>
      <p:pic>
        <p:nvPicPr>
          <p:cNvPr id="3074" name="Picture 2" descr="Android Folder Structure - res folder in android app">
            <a:extLst>
              <a:ext uri="{FF2B5EF4-FFF2-40B4-BE49-F238E27FC236}">
                <a16:creationId xmlns:a16="http://schemas.microsoft.com/office/drawing/2014/main" id="{665DE970-9119-7FA4-51C2-0C0238CBC7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966" y="1027861"/>
            <a:ext cx="11566146" cy="5359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0443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5C3C60-E68F-A05C-7313-5D15A6C7E931}"/>
              </a:ext>
            </a:extLst>
          </p:cNvPr>
          <p:cNvSpPr txBox="1"/>
          <p:nvPr/>
        </p:nvSpPr>
        <p:spPr>
          <a:xfrm>
            <a:off x="80253" y="-83880"/>
            <a:ext cx="82271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400" b="1" dirty="0">
                <a:solidFill>
                  <a:srgbClr val="008000"/>
                </a:solidFill>
                <a:latin typeface="calibri" panose="020F0502020204030204" pitchFamily="34" charset="0"/>
              </a:rPr>
              <a:t>Drawable Folder (res/drawable)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112D9C-0AF1-A8C8-0FDA-9D4CB093E66C}"/>
              </a:ext>
            </a:extLst>
          </p:cNvPr>
          <p:cNvSpPr txBox="1"/>
          <p:nvPr/>
        </p:nvSpPr>
        <p:spPr>
          <a:xfrm>
            <a:off x="205373" y="685561"/>
            <a:ext cx="50291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0" i="0" dirty="0">
                <a:solidFill>
                  <a:srgbClr val="4E4E4E"/>
                </a:solidFill>
                <a:effectLst/>
                <a:latin typeface="Segoe UI" panose="020B0502040204020203" pitchFamily="34" charset="0"/>
              </a:rPr>
              <a:t>It will contain the different types of images as per the requirement of application. It’s a best practice to add all the images in a </a:t>
            </a:r>
            <a:r>
              <a:rPr lang="en-US" sz="2400" b="1" i="0" dirty="0">
                <a:solidFill>
                  <a:srgbClr val="FFC000"/>
                </a:solidFill>
                <a:effectLst/>
                <a:latin typeface="Segoe UI" panose="020B0502040204020203" pitchFamily="34" charset="0"/>
              </a:rPr>
              <a:t>drawable</a:t>
            </a:r>
            <a:r>
              <a:rPr lang="en-US" sz="2400" b="0" i="0" dirty="0">
                <a:solidFill>
                  <a:srgbClr val="4E4E4E"/>
                </a:solidFill>
                <a:effectLst/>
                <a:latin typeface="Segoe UI" panose="020B0502040204020203" pitchFamily="34" charset="0"/>
              </a:rPr>
              <a:t> folder other than app/launcher icons for the application development.</a:t>
            </a:r>
          </a:p>
        </p:txBody>
      </p:sp>
      <p:pic>
        <p:nvPicPr>
          <p:cNvPr id="4100" name="Picture 4" descr="Application Resources Overview in Android | by Vikas Tiwari | Medium">
            <a:extLst>
              <a:ext uri="{FF2B5EF4-FFF2-40B4-BE49-F238E27FC236}">
                <a16:creationId xmlns:a16="http://schemas.microsoft.com/office/drawing/2014/main" id="{925D45A9-B52B-1B54-4C98-E5633636B1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1741" y="882733"/>
            <a:ext cx="5671359" cy="4403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471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CB3AE-4DE1-D24B-8862-83A2DC98E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8604E8C-2F06-1904-96EF-C193C0623DC3}"/>
              </a:ext>
            </a:extLst>
          </p:cNvPr>
          <p:cNvSpPr txBox="1"/>
          <p:nvPr/>
        </p:nvSpPr>
        <p:spPr>
          <a:xfrm>
            <a:off x="363894" y="544030"/>
            <a:ext cx="1058061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0" i="0" dirty="0">
                <a:solidFill>
                  <a:srgbClr val="4E4E4E"/>
                </a:solidFill>
                <a:effectLst/>
                <a:latin typeface="Segoe UI" panose="020B0502040204020203" pitchFamily="34" charset="0"/>
              </a:rPr>
              <a:t>This folder will contain all XML layout files which we used to define the user interface of our application. Following is the structure of the </a:t>
            </a:r>
            <a:r>
              <a:rPr lang="en-US" sz="2800" b="1" i="0" dirty="0">
                <a:solidFill>
                  <a:srgbClr val="FFC000"/>
                </a:solidFill>
                <a:effectLst/>
                <a:latin typeface="Segoe UI" panose="020B0502040204020203" pitchFamily="34" charset="0"/>
              </a:rPr>
              <a:t>layout</a:t>
            </a:r>
            <a:r>
              <a:rPr lang="en-US" sz="2800" b="0" i="0" dirty="0">
                <a:solidFill>
                  <a:srgbClr val="FFC000"/>
                </a:solidFill>
                <a:effectLst/>
                <a:latin typeface="Segoe UI" panose="020B0502040204020203" pitchFamily="34" charset="0"/>
              </a:rPr>
              <a:t> </a:t>
            </a:r>
            <a:r>
              <a:rPr lang="en-US" sz="2800" b="0" i="0" dirty="0">
                <a:solidFill>
                  <a:srgbClr val="4E4E4E"/>
                </a:solidFill>
                <a:effectLst/>
                <a:latin typeface="Segoe UI" panose="020B0502040204020203" pitchFamily="34" charset="0"/>
              </a:rPr>
              <a:t>folder in the android application.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AAEAE6-88CB-4127-7CFD-E90187FA6388}"/>
              </a:ext>
            </a:extLst>
          </p:cNvPr>
          <p:cNvSpPr txBox="1"/>
          <p:nvPr/>
        </p:nvSpPr>
        <p:spPr>
          <a:xfrm>
            <a:off x="0" y="-79257"/>
            <a:ext cx="689934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008000"/>
                </a:solidFill>
                <a:latin typeface="calibri" panose="020F0502020204030204" pitchFamily="34" charset="0"/>
              </a:rPr>
              <a:t>Layout Folder (res/layout)</a:t>
            </a:r>
          </a:p>
        </p:txBody>
      </p:sp>
      <p:pic>
        <p:nvPicPr>
          <p:cNvPr id="4098" name="Picture 2" descr="Android App Folder Structure - Layout folder in android app">
            <a:extLst>
              <a:ext uri="{FF2B5EF4-FFF2-40B4-BE49-F238E27FC236}">
                <a16:creationId xmlns:a16="http://schemas.microsoft.com/office/drawing/2014/main" id="{15D8D890-EC9C-5088-28EF-E0F564903B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674" y="1929025"/>
            <a:ext cx="10138651" cy="4719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4108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E4B3FA-8B07-8FA3-270A-625D8F3BF80F}"/>
              </a:ext>
            </a:extLst>
          </p:cNvPr>
          <p:cNvSpPr txBox="1"/>
          <p:nvPr/>
        </p:nvSpPr>
        <p:spPr>
          <a:xfrm>
            <a:off x="0" y="568796"/>
            <a:ext cx="120458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000" b="0" i="0" dirty="0">
                <a:solidFill>
                  <a:srgbClr val="4E4E4E"/>
                </a:solidFill>
                <a:effectLst/>
                <a:latin typeface="Segoe UI" panose="020B0502040204020203" pitchFamily="34" charset="0"/>
              </a:rPr>
              <a:t>This folder will contain app / launcher icons that are used to show on the home screen. It will contain different density type of icons.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060380-C011-B549-F322-4C813FE003DA}"/>
              </a:ext>
            </a:extLst>
          </p:cNvPr>
          <p:cNvSpPr txBox="1"/>
          <p:nvPr/>
        </p:nvSpPr>
        <p:spPr>
          <a:xfrm>
            <a:off x="72312" y="0"/>
            <a:ext cx="842787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400" b="1" dirty="0">
                <a:solidFill>
                  <a:srgbClr val="008000"/>
                </a:solidFill>
                <a:latin typeface="calibri" panose="020F0502020204030204" pitchFamily="34" charset="0"/>
              </a:rPr>
              <a:t>Mipmap Folder (res/mipmap)</a:t>
            </a:r>
          </a:p>
        </p:txBody>
      </p:sp>
      <p:pic>
        <p:nvPicPr>
          <p:cNvPr id="7172" name="Picture 4" descr="Android App Folder Structure - app launcher / icon folder in android app">
            <a:extLst>
              <a:ext uri="{FF2B5EF4-FFF2-40B4-BE49-F238E27FC236}">
                <a16:creationId xmlns:a16="http://schemas.microsoft.com/office/drawing/2014/main" id="{FD071451-4D5E-AE6A-9BD9-9991D128F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377" y="2403615"/>
            <a:ext cx="10407245" cy="4778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0845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D669B8-B81A-E228-5C3C-A77C1041808E}"/>
              </a:ext>
            </a:extLst>
          </p:cNvPr>
          <p:cNvSpPr txBox="1"/>
          <p:nvPr/>
        </p:nvSpPr>
        <p:spPr>
          <a:xfrm>
            <a:off x="0" y="572287"/>
            <a:ext cx="12344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0" i="0" dirty="0">
                <a:solidFill>
                  <a:srgbClr val="4E4E4E"/>
                </a:solidFill>
                <a:effectLst/>
                <a:latin typeface="Segoe UI" panose="020B0502040204020203" pitchFamily="34" charset="0"/>
              </a:rPr>
              <a:t>This folder will contain various XML files, such as strings, colors, style definitions and a static array of strings or integers. Following is the structure of the </a:t>
            </a:r>
            <a:r>
              <a:rPr lang="en-US" sz="3200" b="1" i="0" dirty="0">
                <a:solidFill>
                  <a:srgbClr val="FFC000"/>
                </a:solidFill>
                <a:effectLst/>
                <a:latin typeface="Segoe UI" panose="020B0502040204020203" pitchFamily="34" charset="0"/>
              </a:rPr>
              <a:t>values</a:t>
            </a:r>
            <a:r>
              <a:rPr lang="en-US" sz="3200" b="0" i="0" dirty="0">
                <a:solidFill>
                  <a:srgbClr val="4E4E4E"/>
                </a:solidFill>
                <a:effectLst/>
                <a:latin typeface="Segoe UI" panose="020B0502040204020203" pitchFamily="34" charset="0"/>
              </a:rPr>
              <a:t> folder in android application.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7C2B92-953B-7787-39AA-7325AA4B9B02}"/>
              </a:ext>
            </a:extLst>
          </p:cNvPr>
          <p:cNvSpPr txBox="1"/>
          <p:nvPr/>
        </p:nvSpPr>
        <p:spPr>
          <a:xfrm>
            <a:off x="118966" y="0"/>
            <a:ext cx="781205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400" b="1" dirty="0">
                <a:solidFill>
                  <a:srgbClr val="008000"/>
                </a:solidFill>
                <a:latin typeface="calibri" panose="020F0502020204030204" pitchFamily="34" charset="0"/>
              </a:rPr>
              <a:t>Values Folder (res/values)</a:t>
            </a:r>
          </a:p>
        </p:txBody>
      </p:sp>
      <p:pic>
        <p:nvPicPr>
          <p:cNvPr id="6146" name="Picture 2" descr="Android App Folder Structure - Values Folder in Android App">
            <a:extLst>
              <a:ext uri="{FF2B5EF4-FFF2-40B4-BE49-F238E27FC236}">
                <a16:creationId xmlns:a16="http://schemas.microsoft.com/office/drawing/2014/main" id="{E299854A-8F31-1DD5-6FAD-716160286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4632" y="2395246"/>
            <a:ext cx="8729316" cy="4033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5353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6ACFB1-4A14-B402-2C1D-42F6D4717464}"/>
              </a:ext>
            </a:extLst>
          </p:cNvPr>
          <p:cNvSpPr txBox="1"/>
          <p:nvPr/>
        </p:nvSpPr>
        <p:spPr>
          <a:xfrm>
            <a:off x="-92598" y="0"/>
            <a:ext cx="12284597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400" b="1" dirty="0">
                <a:solidFill>
                  <a:srgbClr val="008000"/>
                </a:solidFill>
                <a:latin typeface="calibri" panose="020F0502020204030204" pitchFamily="34" charset="0"/>
              </a:rPr>
              <a:t>Manifests Folder </a:t>
            </a:r>
            <a:r>
              <a:rPr lang="en-US" sz="3600" b="0" i="0" dirty="0">
                <a:solidFill>
                  <a:srgbClr val="4E4E4E"/>
                </a:solidFill>
                <a:effectLst/>
                <a:latin typeface="Segoe UI" panose="020B0502040204020203" pitchFamily="34" charset="0"/>
              </a:rPr>
              <a:t>This manifest file will contain information about our application such as android version, access permissions, metadata, etc. </a:t>
            </a:r>
          </a:p>
        </p:txBody>
      </p:sp>
      <p:pic>
        <p:nvPicPr>
          <p:cNvPr id="8194" name="Picture 2" descr="Android App Folder Structure - manifests folder in android app">
            <a:extLst>
              <a:ext uri="{FF2B5EF4-FFF2-40B4-BE49-F238E27FC236}">
                <a16:creationId xmlns:a16="http://schemas.microsoft.com/office/drawing/2014/main" id="{51B92FB4-1672-704B-E187-78D4956E2A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582" y="1877437"/>
            <a:ext cx="10788157" cy="4980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4906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BFDD0B-AC1D-5194-F32C-9F91D55D0DDE}"/>
              </a:ext>
            </a:extLst>
          </p:cNvPr>
          <p:cNvSpPr txBox="1"/>
          <p:nvPr/>
        </p:nvSpPr>
        <p:spPr>
          <a:xfrm>
            <a:off x="-46299" y="89720"/>
            <a:ext cx="125238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400" b="1" dirty="0">
                <a:solidFill>
                  <a:srgbClr val="008000"/>
                </a:solidFill>
                <a:latin typeface="calibri" panose="020F0502020204030204" pitchFamily="34" charset="0"/>
              </a:rPr>
              <a:t>Gradle Scripts</a:t>
            </a:r>
            <a:r>
              <a:rPr lang="en-US" b="0" i="0" dirty="0">
                <a:solidFill>
                  <a:srgbClr val="4E4E4E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dirty="0">
                <a:solidFill>
                  <a:srgbClr val="4E4E4E"/>
                </a:solidFill>
                <a:effectLst/>
                <a:latin typeface="Segoe UI" panose="020B0502040204020203" pitchFamily="34" charset="0"/>
              </a:rPr>
              <a:t>means automated build system and by using this we can define a build configuration that applies to all modules in our application. </a:t>
            </a:r>
          </a:p>
        </p:txBody>
      </p:sp>
      <p:pic>
        <p:nvPicPr>
          <p:cNvPr id="9218" name="Picture 2" descr="Android App Folder Structure - Gradle Scripts in android app">
            <a:extLst>
              <a:ext uri="{FF2B5EF4-FFF2-40B4-BE49-F238E27FC236}">
                <a16:creationId xmlns:a16="http://schemas.microsoft.com/office/drawing/2014/main" id="{59408EA9-EE45-8D56-C350-FE5EFB165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07" y="1236933"/>
            <a:ext cx="11984585" cy="5531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4086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04D094-587B-0DDD-2955-A1C2BA6373A3}"/>
              </a:ext>
            </a:extLst>
          </p:cNvPr>
          <p:cNvSpPr txBox="1"/>
          <p:nvPr/>
        </p:nvSpPr>
        <p:spPr>
          <a:xfrm>
            <a:off x="0" y="0"/>
            <a:ext cx="121920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400" b="1" dirty="0">
                <a:solidFill>
                  <a:srgbClr val="008000"/>
                </a:solidFill>
                <a:latin typeface="calibri" panose="020F0502020204030204" pitchFamily="34" charset="0"/>
              </a:rPr>
              <a:t>Android Layout File (activity_main.xml)</a:t>
            </a:r>
          </a:p>
          <a:p>
            <a:pPr algn="l"/>
            <a:r>
              <a:rPr lang="en-US" b="0" i="0" dirty="0">
                <a:solidFill>
                  <a:srgbClr val="4E4E4E"/>
                </a:solidFill>
                <a:effectLst/>
                <a:latin typeface="Segoe UI" panose="020B0502040204020203" pitchFamily="34" charset="0"/>
              </a:rPr>
              <a:t> </a:t>
            </a:r>
          </a:p>
        </p:txBody>
      </p:sp>
      <p:pic>
        <p:nvPicPr>
          <p:cNvPr id="10242" name="Picture 2" descr="Android Hello World App - Activity Layout XML File">
            <a:extLst>
              <a:ext uri="{FF2B5EF4-FFF2-40B4-BE49-F238E27FC236}">
                <a16:creationId xmlns:a16="http://schemas.microsoft.com/office/drawing/2014/main" id="{F651DCB8-D055-A7BF-2D33-726B8653BE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654" y="717631"/>
            <a:ext cx="11500691" cy="6140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3018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0229F-5D21-B0F7-384D-D8CA087E0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BE2A44-0B9A-0CC7-CC55-D734829994ED}"/>
              </a:ext>
            </a:extLst>
          </p:cNvPr>
          <p:cNvSpPr txBox="1"/>
          <p:nvPr/>
        </p:nvSpPr>
        <p:spPr>
          <a:xfrm>
            <a:off x="0" y="0"/>
            <a:ext cx="121920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400" b="1" dirty="0">
                <a:solidFill>
                  <a:srgbClr val="008000"/>
                </a:solidFill>
                <a:latin typeface="calibri" panose="020F0502020204030204" pitchFamily="34" charset="0"/>
              </a:rPr>
              <a:t>Android Layout File (activity_main.xml)</a:t>
            </a:r>
          </a:p>
          <a:p>
            <a:pPr algn="l"/>
            <a:r>
              <a:rPr lang="en-US" b="0" i="0" dirty="0">
                <a:solidFill>
                  <a:srgbClr val="4E4E4E"/>
                </a:solidFill>
                <a:effectLst/>
                <a:latin typeface="Segoe UI" panose="020B0502040204020203" pitchFamily="34" charset="0"/>
              </a:rPr>
              <a:t>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F38FAC-DBBD-6661-D56B-4BBABF01F055}"/>
              </a:ext>
            </a:extLst>
          </p:cNvPr>
          <p:cNvSpPr txBox="1"/>
          <p:nvPr/>
        </p:nvSpPr>
        <p:spPr>
          <a:xfrm>
            <a:off x="0" y="1046440"/>
            <a:ext cx="12192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&lt;?</a:t>
            </a:r>
            <a:r>
              <a:rPr lang="en-US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xml version=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"1.0" </a:t>
            </a:r>
            <a:r>
              <a:rPr lang="en-US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encoding=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"utf-8"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?&gt;</a:t>
            </a:r>
            <a:b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 err="1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android.support.constraint.ConstraintLayout</a:t>
            </a:r>
            <a:r>
              <a:rPr lang="en-US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xmlns:</a:t>
            </a:r>
            <a:r>
              <a:rPr lang="en-US" b="0" i="0" dirty="0" err="1"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android</a:t>
            </a:r>
            <a:r>
              <a:rPr lang="en-US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"http://schemas.android.com/</a:t>
            </a:r>
            <a:r>
              <a:rPr lang="en-US" b="0" i="0" dirty="0" err="1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apk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/res/android"</a:t>
            </a:r>
            <a:b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xmlns:</a:t>
            </a:r>
            <a:r>
              <a:rPr lang="en-US" b="0" i="0" dirty="0" err="1"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"http://schemas.android.com/</a:t>
            </a:r>
            <a:r>
              <a:rPr lang="en-US" b="0" i="0" dirty="0" err="1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apk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/res-auto"</a:t>
            </a:r>
            <a:b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xmlns:</a:t>
            </a:r>
            <a:r>
              <a:rPr lang="en-US" b="0" i="0" dirty="0" err="1"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tools</a:t>
            </a:r>
            <a:r>
              <a:rPr lang="en-US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"http://schemas.android.com/tools"</a:t>
            </a:r>
            <a:b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 err="1"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android</a:t>
            </a:r>
            <a:r>
              <a:rPr lang="en-US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:layout_width</a:t>
            </a:r>
            <a:r>
              <a:rPr lang="en-US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 err="1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match_parent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</a:t>
            </a:r>
            <a:b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 err="1"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android</a:t>
            </a:r>
            <a:r>
              <a:rPr lang="en-US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:layout_height</a:t>
            </a:r>
            <a:r>
              <a:rPr lang="en-US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 err="1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match_parent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</a:t>
            </a:r>
            <a:b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 err="1"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tools</a:t>
            </a:r>
            <a:r>
              <a:rPr lang="en-US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:context</a:t>
            </a:r>
            <a:r>
              <a:rPr lang="en-US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 err="1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com.tutlane.helloworld.MainActivity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  &lt;</a:t>
            </a:r>
            <a:r>
              <a:rPr lang="en-US" b="0" i="0" dirty="0" err="1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TextView</a:t>
            </a:r>
            <a:br>
              <a:rPr lang="en-US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b="0" i="0" dirty="0" err="1"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android</a:t>
            </a:r>
            <a:r>
              <a:rPr lang="en-US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:layout_width</a:t>
            </a:r>
            <a:r>
              <a:rPr lang="en-US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 err="1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wrap_content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</a:t>
            </a:r>
            <a:b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b="0" i="0" dirty="0" err="1"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android</a:t>
            </a:r>
            <a:r>
              <a:rPr lang="en-US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:layout_height</a:t>
            </a:r>
            <a:r>
              <a:rPr lang="en-US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 err="1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wrap_content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</a:t>
            </a:r>
            <a:b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b="0" i="0" dirty="0" err="1"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android</a:t>
            </a:r>
            <a:r>
              <a:rPr lang="en-US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:text</a:t>
            </a:r>
            <a:r>
              <a:rPr lang="en-US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"Hello World!"</a:t>
            </a:r>
            <a:b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b="0" i="0" dirty="0" err="1"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:layout_constraintBottom_toBottomOf</a:t>
            </a:r>
            <a:r>
              <a:rPr lang="en-US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"parent"</a:t>
            </a:r>
            <a:b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b="0" i="0" dirty="0" err="1"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:layout_constraintLeft_toLeftOf</a:t>
            </a:r>
            <a:r>
              <a:rPr lang="en-US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"parent"</a:t>
            </a:r>
            <a:b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b="0" i="0" dirty="0" err="1"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:layout_constraintRight_toRightOf</a:t>
            </a:r>
            <a:r>
              <a:rPr lang="en-US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"parent"</a:t>
            </a:r>
            <a:b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b="0" i="0" dirty="0" err="1"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:layout_constraintTop_toTopOf</a:t>
            </a:r>
            <a:r>
              <a:rPr lang="en-US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"parent" 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/&gt;</a:t>
            </a:r>
          </a:p>
          <a:p>
            <a:pPr algn="l">
              <a:spcAft>
                <a:spcPts val="0"/>
              </a:spcAft>
            </a:pPr>
            <a:b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i="0" dirty="0" err="1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android.support.constraint.ConstraintLayout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680973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B1DAD1-BCC6-3246-2E84-BC1EC7737DD7}"/>
              </a:ext>
            </a:extLst>
          </p:cNvPr>
          <p:cNvSpPr txBox="1"/>
          <p:nvPr/>
        </p:nvSpPr>
        <p:spPr>
          <a:xfrm>
            <a:off x="0" y="-97063"/>
            <a:ext cx="1219200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400" b="1" dirty="0">
                <a:solidFill>
                  <a:srgbClr val="008000"/>
                </a:solidFill>
                <a:latin typeface="calibri" panose="020F0502020204030204" pitchFamily="34" charset="0"/>
              </a:rPr>
              <a:t>Android Main Activity File (MainActivity.java)</a:t>
            </a:r>
          </a:p>
          <a:p>
            <a:pPr algn="l"/>
            <a:r>
              <a:rPr lang="en-US" sz="3600" b="0" i="0" dirty="0">
                <a:solidFill>
                  <a:srgbClr val="4E4E4E"/>
                </a:solidFill>
                <a:effectLst/>
                <a:latin typeface="Segoe UI" panose="020B0502040204020203" pitchFamily="34" charset="0"/>
              </a:rPr>
              <a:t>The main activity file in the android application is </a:t>
            </a:r>
            <a:r>
              <a:rPr lang="en-US" sz="3600" b="1" i="0" dirty="0">
                <a:solidFill>
                  <a:srgbClr val="4E4E4E"/>
                </a:solidFill>
                <a:effectLst/>
                <a:latin typeface="Segoe UI" panose="020B0502040204020203" pitchFamily="34" charset="0"/>
              </a:rPr>
              <a:t>MainActivity.java</a:t>
            </a:r>
            <a:r>
              <a:rPr lang="en-US" sz="3600" b="0" i="0" dirty="0">
                <a:solidFill>
                  <a:srgbClr val="4E4E4E"/>
                </a:solidFill>
                <a:effectLst/>
                <a:latin typeface="Segoe UI" panose="020B0502040204020203" pitchFamily="34" charset="0"/>
              </a:rPr>
              <a:t> and it will exist in the </a:t>
            </a:r>
            <a:r>
              <a:rPr lang="en-US" sz="3600" b="1" i="0" dirty="0">
                <a:solidFill>
                  <a:srgbClr val="4E4E4E"/>
                </a:solidFill>
                <a:effectLst/>
                <a:latin typeface="Segoe UI" panose="020B0502040204020203" pitchFamily="34" charset="0"/>
              </a:rPr>
              <a:t>java</a:t>
            </a:r>
            <a:r>
              <a:rPr lang="en-US" sz="3600" b="0" i="0" dirty="0">
                <a:solidFill>
                  <a:srgbClr val="4E4E4E"/>
                </a:solidFill>
                <a:effectLst/>
                <a:latin typeface="Segoe UI" panose="020B0502040204020203" pitchFamily="34" charset="0"/>
              </a:rPr>
              <a:t> folder.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D35BAD-6365-2306-8ED6-53958CE6AB4B}"/>
              </a:ext>
            </a:extLst>
          </p:cNvPr>
          <p:cNvSpPr txBox="1"/>
          <p:nvPr/>
        </p:nvSpPr>
        <p:spPr>
          <a:xfrm>
            <a:off x="544011" y="1984163"/>
            <a:ext cx="1230388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package </a:t>
            </a:r>
            <a:r>
              <a:rPr lang="en-US" sz="28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com.tutlane.helloworld</a:t>
            </a:r>
            <a:r>
              <a:rPr lang="en-US" sz="2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sz="28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import </a:t>
            </a:r>
            <a:r>
              <a:rPr lang="en-US" sz="2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android.support.v7.app.AppCompatActivity;</a:t>
            </a:r>
            <a:br>
              <a:rPr lang="en-US" sz="2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sz="28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import </a:t>
            </a:r>
            <a:r>
              <a:rPr lang="en-US" sz="28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android.os.Bundle</a:t>
            </a:r>
            <a:r>
              <a:rPr lang="en-US" sz="2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sz="28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public class </a:t>
            </a:r>
            <a:r>
              <a:rPr lang="en-US" sz="28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MainActivity</a:t>
            </a:r>
            <a:r>
              <a:rPr lang="en-US" sz="2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8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extends </a:t>
            </a:r>
            <a:r>
              <a:rPr lang="en-US" sz="28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AppCompatActivity</a:t>
            </a:r>
            <a:r>
              <a:rPr lang="en-US" sz="2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{</a:t>
            </a:r>
            <a:br>
              <a:rPr lang="en-US" sz="2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sz="2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28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@Override</a:t>
            </a:r>
            <a:br>
              <a:rPr lang="en-US" sz="28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</a:br>
            <a:r>
              <a:rPr lang="en-US" sz="28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28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protected void </a:t>
            </a:r>
            <a:r>
              <a:rPr lang="en-US" sz="28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onCreate</a:t>
            </a:r>
            <a:r>
              <a:rPr lang="en-US" sz="2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(Bundle </a:t>
            </a:r>
            <a:r>
              <a:rPr lang="en-US" sz="28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savedInstanceState</a:t>
            </a:r>
            <a:r>
              <a:rPr lang="en-US" sz="2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sz="2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sz="2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2800" b="0" i="0" dirty="0" err="1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sz="28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.onCreate</a:t>
            </a:r>
            <a:r>
              <a:rPr lang="en-US" sz="2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savedInstanceState</a:t>
            </a:r>
            <a:r>
              <a:rPr lang="en-US" sz="2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sz="2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sz="2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      </a:t>
            </a:r>
            <a:r>
              <a:rPr lang="en-US" sz="28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setContentView</a:t>
            </a:r>
            <a:r>
              <a:rPr lang="en-US" sz="2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R.layout.</a:t>
            </a:r>
            <a:r>
              <a:rPr lang="en-US" sz="2800" b="0" i="0" dirty="0" err="1"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activity_main</a:t>
            </a:r>
            <a:r>
              <a:rPr lang="en-US" sz="2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sz="2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sz="2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  }</a:t>
            </a:r>
            <a:br>
              <a:rPr lang="en-US" sz="2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sz="2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57936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9A239E-2D67-4D3B-134F-F9F6DF421C7D}"/>
              </a:ext>
            </a:extLst>
          </p:cNvPr>
          <p:cNvSpPr txBox="1"/>
          <p:nvPr/>
        </p:nvSpPr>
        <p:spPr>
          <a:xfrm>
            <a:off x="545621" y="559611"/>
            <a:ext cx="11115076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400" b="1" dirty="0" err="1">
                <a:solidFill>
                  <a:srgbClr val="008000"/>
                </a:solidFill>
                <a:latin typeface="calibri" panose="020F0502020204030204" pitchFamily="34" charset="0"/>
              </a:rPr>
              <a:t>TextView</a:t>
            </a:r>
            <a:r>
              <a:rPr lang="en-US" dirty="0">
                <a:solidFill>
                  <a:srgbClr val="555555"/>
                </a:solidFill>
                <a:latin typeface="Arial Black" panose="020B0A04020102020204" pitchFamily="34" charset="0"/>
              </a:rPr>
              <a:t> </a:t>
            </a:r>
            <a:r>
              <a:rPr lang="en-US" sz="3600" b="0" i="0" dirty="0">
                <a:solidFill>
                  <a:srgbClr val="555555"/>
                </a:solidFill>
                <a:effectLst/>
                <a:latin typeface="calibri" panose="020F0502020204030204" pitchFamily="34" charset="0"/>
              </a:rPr>
              <a:t>displays text to the user and optionally allows them to edit it programmatically. </a:t>
            </a:r>
            <a:r>
              <a:rPr lang="en-US" sz="3600" b="0" i="0" u="none" strike="noStrike" dirty="0" err="1">
                <a:solidFill>
                  <a:srgbClr val="337AB7"/>
                </a:solidFill>
                <a:effectLst/>
                <a:latin typeface="calibri" panose="020F0502020204030204" pitchFamily="34" charset="0"/>
                <a:hlinkClick r:id="rId2" tooltip="TextView"/>
              </a:rPr>
              <a:t>TextView</a:t>
            </a:r>
            <a:r>
              <a:rPr lang="en-US" sz="3600" b="0" i="0" dirty="0">
                <a:solidFill>
                  <a:srgbClr val="555555"/>
                </a:solidFill>
                <a:effectLst/>
                <a:latin typeface="calibri" panose="020F0502020204030204" pitchFamily="34" charset="0"/>
              </a:rPr>
              <a:t> is a complete text editor, however basic class is configured to not allow editing but we can edit it.</a:t>
            </a:r>
          </a:p>
        </p:txBody>
      </p:sp>
      <p:pic>
        <p:nvPicPr>
          <p:cNvPr id="1028" name="Picture 4" descr="TextView Size of Plain, Large, Medium, and Small Text Android Studio">
            <a:extLst>
              <a:ext uri="{FF2B5EF4-FFF2-40B4-BE49-F238E27FC236}">
                <a16:creationId xmlns:a16="http://schemas.microsoft.com/office/drawing/2014/main" id="{56298539-009C-8959-2AC2-F9B3CF8751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001" y="2991046"/>
            <a:ext cx="10092649" cy="351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05072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9760019-0B80-AB94-F01D-FF3AB1DA4D9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247781" y="1053008"/>
            <a:ext cx="9696437" cy="252631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Menlo"/>
              </a:rPr>
              <a:t>&lt;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Menlo"/>
              </a:rPr>
              <a:t>TextView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Menlo"/>
              </a:rPr>
              <a:t>android:id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=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"@+id/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simpleTextView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 </a:t>
            </a:r>
            <a:b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</a:b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Menlo"/>
              </a:rPr>
              <a:t>android:layout_width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=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wrap_content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 </a:t>
            </a:r>
            <a:b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</a:b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Menlo"/>
              </a:rPr>
              <a:t>android:layout_height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=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wrap_content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 </a:t>
            </a:r>
            <a:b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</a:b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Menlo"/>
              </a:rPr>
              <a:t>android:text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=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AbhiAndroid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 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Menlo"/>
              </a:rPr>
              <a:t>/&gt;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F3DF9D3-BBA9-644D-0DF8-D09D6E8F8C8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22389" y="4523379"/>
            <a:ext cx="11398890" cy="117209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Menlo"/>
              </a:rPr>
              <a:t>TextView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textView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=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(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Menlo"/>
              </a:rPr>
              <a:t>TextView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)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findViewById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(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R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.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id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.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textView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);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textView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.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setText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(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AbhiAndroid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);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80000"/>
                </a:solidFill>
                <a:effectLst/>
                <a:latin typeface="Menlo"/>
              </a:rPr>
              <a:t>//set text for text view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CA57E6-DDF6-EDF1-6B51-FDBF7C250B65}"/>
              </a:ext>
            </a:extLst>
          </p:cNvPr>
          <p:cNvSpPr txBox="1"/>
          <p:nvPr/>
        </p:nvSpPr>
        <p:spPr>
          <a:xfrm>
            <a:off x="253941" y="3583325"/>
            <a:ext cx="60946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i="0" dirty="0" err="1">
                <a:solidFill>
                  <a:srgbClr val="008000"/>
                </a:solidFill>
                <a:effectLst/>
                <a:latin typeface="calibri" panose="020F0502020204030204" pitchFamily="34" charset="0"/>
              </a:rPr>
              <a:t>TextView</a:t>
            </a:r>
            <a:r>
              <a:rPr lang="en-US" sz="4800" b="1" i="0" dirty="0">
                <a:solidFill>
                  <a:srgbClr val="008000"/>
                </a:solidFill>
                <a:effectLst/>
                <a:latin typeface="calibri" panose="020F0502020204030204" pitchFamily="34" charset="0"/>
              </a:rPr>
              <a:t> code in JAVA:</a:t>
            </a:r>
            <a:endParaRPr lang="en-US" sz="4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5B5DDA-37C9-C8F5-82DF-900C41DDEBB4}"/>
              </a:ext>
            </a:extLst>
          </p:cNvPr>
          <p:cNvSpPr txBox="1"/>
          <p:nvPr/>
        </p:nvSpPr>
        <p:spPr>
          <a:xfrm>
            <a:off x="396554" y="218006"/>
            <a:ext cx="610718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i="0" dirty="0" err="1">
                <a:solidFill>
                  <a:srgbClr val="008000"/>
                </a:solidFill>
                <a:effectLst/>
                <a:latin typeface="calibri" panose="020F0502020204030204" pitchFamily="34" charset="0"/>
              </a:rPr>
              <a:t>TextView</a:t>
            </a:r>
            <a:r>
              <a:rPr lang="en-US" sz="4400" b="1" i="0" dirty="0">
                <a:solidFill>
                  <a:srgbClr val="008000"/>
                </a:solidFill>
                <a:effectLst/>
                <a:latin typeface="calibri" panose="020F0502020204030204" pitchFamily="34" charset="0"/>
              </a:rPr>
              <a:t> code in XML: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4112175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2A6FFC-DD3E-8C6E-04CD-602C1B225A5B}"/>
              </a:ext>
            </a:extLst>
          </p:cNvPr>
          <p:cNvSpPr txBox="1"/>
          <p:nvPr/>
        </p:nvSpPr>
        <p:spPr>
          <a:xfrm>
            <a:off x="94376" y="-67545"/>
            <a:ext cx="12097624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 err="1">
                <a:solidFill>
                  <a:srgbClr val="008000"/>
                </a:solidFill>
                <a:latin typeface="calibri" panose="020F0502020204030204" pitchFamily="34" charset="0"/>
                <a:hlinkClick r:id="rId2" tooltip="EditT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EditText</a:t>
            </a:r>
            <a:r>
              <a:rPr lang="en-US" sz="4400" b="1" dirty="0">
                <a:solidFill>
                  <a:srgbClr val="008000"/>
                </a:solidFill>
                <a:latin typeface="calibri" panose="020F0502020204030204" pitchFamily="34" charset="0"/>
              </a:rPr>
              <a:t> </a:t>
            </a:r>
            <a:r>
              <a:rPr lang="en-US" sz="4000" b="0" i="0" dirty="0">
                <a:solidFill>
                  <a:srgbClr val="555555"/>
                </a:solidFill>
                <a:effectLst/>
                <a:latin typeface="calibri" panose="020F0502020204030204" pitchFamily="34" charset="0"/>
              </a:rPr>
              <a:t>is a standard entry widget in android apps. It is an overlay over </a:t>
            </a:r>
            <a:r>
              <a:rPr lang="en-US" sz="4000" b="0" i="0" u="none" strike="noStrike" dirty="0" err="1">
                <a:solidFill>
                  <a:srgbClr val="337AB7"/>
                </a:solidFill>
                <a:effectLst/>
                <a:latin typeface="calibri" panose="020F0502020204030204" pitchFamily="34" charset="0"/>
                <a:hlinkClick r:id="rId3" tooltip="TextView"/>
              </a:rPr>
              <a:t>TextView</a:t>
            </a:r>
            <a:r>
              <a:rPr lang="en-US" sz="4000" b="0" i="0" dirty="0">
                <a:solidFill>
                  <a:srgbClr val="555555"/>
                </a:solidFill>
                <a:effectLst/>
                <a:latin typeface="calibri" panose="020F0502020204030204" pitchFamily="34" charset="0"/>
              </a:rPr>
              <a:t> that configures itself to be editable. </a:t>
            </a:r>
            <a:endParaRPr lang="en-US" sz="4000" dirty="0"/>
          </a:p>
        </p:txBody>
      </p:sp>
      <p:pic>
        <p:nvPicPr>
          <p:cNvPr id="2" name="Picture 2" descr="EditText in Android Studio">
            <a:extLst>
              <a:ext uri="{FF2B5EF4-FFF2-40B4-BE49-F238E27FC236}">
                <a16:creationId xmlns:a16="http://schemas.microsoft.com/office/drawing/2014/main" id="{0BAF7FCA-8F1E-AA70-0979-10BDB5E43D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2604" y="1399106"/>
            <a:ext cx="8641492" cy="5458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82295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FA434C-BC6D-F4F3-1F41-46D7E439894D}"/>
              </a:ext>
            </a:extLst>
          </p:cNvPr>
          <p:cNvSpPr txBox="1"/>
          <p:nvPr/>
        </p:nvSpPr>
        <p:spPr>
          <a:xfrm>
            <a:off x="208345" y="258901"/>
            <a:ext cx="1178302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0" i="0" u="none" strike="noStrike" dirty="0" err="1">
                <a:solidFill>
                  <a:srgbClr val="337AB7"/>
                </a:solidFill>
                <a:effectLst/>
                <a:latin typeface="calibri" panose="020F0502020204030204" pitchFamily="34" charset="0"/>
                <a:hlinkClick r:id="rId2" tooltip="EditText"/>
              </a:rPr>
              <a:t>EditText</a:t>
            </a:r>
            <a:r>
              <a:rPr lang="en-US" sz="4000" b="0" i="0" dirty="0">
                <a:solidFill>
                  <a:srgbClr val="555555"/>
                </a:solidFill>
                <a:effectLst/>
                <a:latin typeface="calibri" panose="020F0502020204030204" pitchFamily="34" charset="0"/>
              </a:rPr>
              <a:t> is a subclass of </a:t>
            </a:r>
            <a:r>
              <a:rPr lang="en-US" sz="4000" b="0" i="0" u="none" strike="noStrike" dirty="0" err="1">
                <a:solidFill>
                  <a:srgbClr val="337AB7"/>
                </a:solidFill>
                <a:effectLst/>
                <a:latin typeface="calibri" panose="020F0502020204030204" pitchFamily="34" charset="0"/>
                <a:hlinkClick r:id="rId3" tooltip="TextView"/>
              </a:rPr>
              <a:t>TextView</a:t>
            </a:r>
            <a:r>
              <a:rPr lang="en-US" sz="4000" b="0" i="0" dirty="0">
                <a:solidFill>
                  <a:srgbClr val="555555"/>
                </a:solidFill>
                <a:effectLst/>
                <a:latin typeface="calibri" panose="020F0502020204030204" pitchFamily="34" charset="0"/>
              </a:rPr>
              <a:t> with text editing operations. </a:t>
            </a:r>
            <a:r>
              <a:rPr lang="en-US" sz="4000" b="1" i="0" dirty="0">
                <a:solidFill>
                  <a:srgbClr val="555555"/>
                </a:solidFill>
                <a:effectLst/>
                <a:latin typeface="calibri" panose="020F0502020204030204" pitchFamily="34" charset="0"/>
              </a:rPr>
              <a:t>We often use </a:t>
            </a:r>
            <a:r>
              <a:rPr lang="en-US" sz="4000" b="1" i="0" dirty="0" err="1">
                <a:solidFill>
                  <a:srgbClr val="555555"/>
                </a:solidFill>
                <a:effectLst/>
                <a:latin typeface="calibri" panose="020F0502020204030204" pitchFamily="34" charset="0"/>
              </a:rPr>
              <a:t>EditText</a:t>
            </a:r>
            <a:r>
              <a:rPr lang="en-US" sz="4000" b="1" i="0" dirty="0">
                <a:solidFill>
                  <a:srgbClr val="555555"/>
                </a:solidFill>
                <a:effectLst/>
                <a:latin typeface="calibri" panose="020F0502020204030204" pitchFamily="34" charset="0"/>
              </a:rPr>
              <a:t> in our applications in order to provide an input or text field, especially in forms.</a:t>
            </a:r>
            <a:endParaRPr lang="en-US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291A3C-6315-F512-8233-05706894C4EB}"/>
              </a:ext>
            </a:extLst>
          </p:cNvPr>
          <p:cNvSpPr txBox="1"/>
          <p:nvPr/>
        </p:nvSpPr>
        <p:spPr>
          <a:xfrm>
            <a:off x="127322" y="3108728"/>
            <a:ext cx="1151681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4400" b="1" i="0" kern="12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Important Note: </a:t>
            </a:r>
            <a:r>
              <a:rPr lang="en-US" sz="4400" b="0" i="0" kern="1200" dirty="0">
                <a:solidFill>
                  <a:srgbClr val="555555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An </a:t>
            </a:r>
            <a:r>
              <a:rPr lang="en-US" sz="4400" b="0" i="0" kern="1200" dirty="0" err="1">
                <a:solidFill>
                  <a:srgbClr val="555555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EditText</a:t>
            </a:r>
            <a:r>
              <a:rPr lang="en-US" sz="4400" b="0" i="0" kern="1200" dirty="0">
                <a:solidFill>
                  <a:srgbClr val="555555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 is simply a thin extension of a </a:t>
            </a:r>
            <a:r>
              <a:rPr lang="en-US" sz="4400" b="0" i="0" kern="1200" dirty="0" err="1">
                <a:solidFill>
                  <a:srgbClr val="337AB7"/>
                </a:solidFill>
                <a:effectLst/>
                <a:latin typeface="calibri" panose="020F0502020204030204" pitchFamily="34" charset="0"/>
                <a:ea typeface="+mn-ea"/>
                <a:cs typeface="+mn-cs"/>
                <a:hlinkClick r:id="rId4"/>
              </a:rPr>
              <a:t>TextView</a:t>
            </a:r>
            <a:r>
              <a:rPr lang="en-US" sz="4400" b="0" i="0" kern="1200" dirty="0">
                <a:solidFill>
                  <a:srgbClr val="555555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. An </a:t>
            </a:r>
            <a:r>
              <a:rPr lang="en-US" sz="4400" b="0" i="0" kern="1200" dirty="0" err="1">
                <a:solidFill>
                  <a:srgbClr val="555555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EditText</a:t>
            </a:r>
            <a:r>
              <a:rPr lang="en-US" sz="4400" b="0" i="0" kern="1200" dirty="0">
                <a:solidFill>
                  <a:srgbClr val="555555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inherits all the properties of a </a:t>
            </a:r>
            <a:r>
              <a:rPr lang="en-US" sz="4400" b="0" i="0" kern="1200" dirty="0" err="1">
                <a:solidFill>
                  <a:srgbClr val="337AB7"/>
                </a:solidFill>
                <a:effectLst/>
                <a:latin typeface="calibri" panose="020F0502020204030204" pitchFamily="34" charset="0"/>
                <a:ea typeface="+mn-ea"/>
                <a:cs typeface="+mn-cs"/>
                <a:hlinkClick r:id="rId3"/>
              </a:rPr>
              <a:t>TextView</a:t>
            </a:r>
            <a:r>
              <a:rPr lang="en-US" sz="4400" b="0" i="0" kern="1200" dirty="0">
                <a:solidFill>
                  <a:srgbClr val="555555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.</a:t>
            </a:r>
            <a:endParaRPr lang="en-US" sz="4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370112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74635C-8DF0-1B42-AFDA-524A86BFE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946" y="1148909"/>
            <a:ext cx="10407144" cy="2280091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Menlo"/>
              </a:rPr>
              <a:t>&lt;</a:t>
            </a:r>
            <a:r>
              <a:rPr kumimoji="0" lang="en-US" altLang="en-US" sz="48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Menlo"/>
              </a:rPr>
              <a:t>EditText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 </a:t>
            </a:r>
            <a:r>
              <a:rPr kumimoji="0" lang="en-US" altLang="en-US" sz="48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Menlo"/>
              </a:rPr>
              <a:t>android:id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=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"@+id/ET"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Menlo"/>
              </a:rPr>
              <a:t>android:layout_height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=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</a:t>
            </a:r>
            <a:r>
              <a:rPr kumimoji="0" lang="en-US" altLang="en-US" sz="48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wrap_content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Menlo"/>
              </a:rPr>
              <a:t>android:layout_width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=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</a:t>
            </a:r>
            <a:r>
              <a:rPr kumimoji="0" lang="en-US" altLang="en-US" sz="48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match_parent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Menlo"/>
              </a:rPr>
              <a:t>/&gt;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100D9A-1E42-9FA4-6C1B-D11E976F5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590" y="4803742"/>
            <a:ext cx="11847410" cy="129520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Menlo"/>
              </a:rPr>
              <a:t>EditText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simpleEditText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=(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Menlo"/>
              </a:rPr>
              <a:t>EditText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)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findViewById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(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R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.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id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.ET);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Menlo"/>
              </a:rPr>
              <a:t>String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editTextValue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=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simpleEditText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.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getText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().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toString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();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657D5C-D887-B66E-5736-365D436F1ABB}"/>
              </a:ext>
            </a:extLst>
          </p:cNvPr>
          <p:cNvSpPr txBox="1"/>
          <p:nvPr/>
        </p:nvSpPr>
        <p:spPr>
          <a:xfrm>
            <a:off x="127927" y="250295"/>
            <a:ext cx="61403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 err="1">
                <a:solidFill>
                  <a:srgbClr val="008000"/>
                </a:solidFill>
                <a:latin typeface="calibri" panose="020F0502020204030204" pitchFamily="34" charset="0"/>
              </a:rPr>
              <a:t>EditText</a:t>
            </a:r>
            <a:r>
              <a:rPr lang="en-US" sz="4400" b="1" dirty="0">
                <a:solidFill>
                  <a:srgbClr val="008000"/>
                </a:solidFill>
                <a:latin typeface="calibri" panose="020F0502020204030204" pitchFamily="34" charset="0"/>
              </a:rPr>
              <a:t> code in XML: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2C3686-645D-911E-35AB-DCEBD3E7503D}"/>
              </a:ext>
            </a:extLst>
          </p:cNvPr>
          <p:cNvSpPr txBox="1"/>
          <p:nvPr/>
        </p:nvSpPr>
        <p:spPr>
          <a:xfrm>
            <a:off x="127927" y="3731650"/>
            <a:ext cx="61403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 err="1">
                <a:solidFill>
                  <a:srgbClr val="008000"/>
                </a:solidFill>
                <a:latin typeface="calibri" panose="020F0502020204030204" pitchFamily="34" charset="0"/>
              </a:rPr>
              <a:t>EditText</a:t>
            </a:r>
            <a:r>
              <a:rPr lang="en-US" sz="4400" b="1" dirty="0">
                <a:solidFill>
                  <a:srgbClr val="008000"/>
                </a:solidFill>
                <a:latin typeface="calibri" panose="020F0502020204030204" pitchFamily="34" charset="0"/>
              </a:rPr>
              <a:t> code in JAVA:</a:t>
            </a:r>
          </a:p>
        </p:txBody>
      </p:sp>
    </p:spTree>
    <p:extLst>
      <p:ext uri="{BB962C8B-B14F-4D97-AF65-F5344CB8AC3E}">
        <p14:creationId xmlns:p14="http://schemas.microsoft.com/office/powerpoint/2010/main" val="37678152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BD594C-6E86-755B-7279-1A1042C7B877}"/>
              </a:ext>
            </a:extLst>
          </p:cNvPr>
          <p:cNvSpPr txBox="1"/>
          <p:nvPr/>
        </p:nvSpPr>
        <p:spPr>
          <a:xfrm>
            <a:off x="196770" y="170345"/>
            <a:ext cx="12188141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0" i="0" dirty="0">
                <a:solidFill>
                  <a:srgbClr val="555555"/>
                </a:solidFill>
                <a:effectLst/>
                <a:latin typeface="calibri" panose="020F0502020204030204" pitchFamily="34" charset="0"/>
              </a:rPr>
              <a:t> </a:t>
            </a:r>
            <a:r>
              <a:rPr lang="en-US" sz="5400" b="1" dirty="0" err="1">
                <a:solidFill>
                  <a:srgbClr val="008000"/>
                </a:solidFill>
                <a:latin typeface="calibri" panose="020F0502020204030204" pitchFamily="34" charset="0"/>
                <a:hlinkClick r:id="rId2" tooltip="CheckBo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CheckBox</a:t>
            </a:r>
            <a:r>
              <a:rPr lang="en-US" sz="5400" b="0" i="0" dirty="0">
                <a:solidFill>
                  <a:srgbClr val="555555"/>
                </a:solidFill>
                <a:effectLst/>
                <a:latin typeface="calibri" panose="020F0502020204030204" pitchFamily="34" charset="0"/>
              </a:rPr>
              <a:t> </a:t>
            </a:r>
            <a:r>
              <a:rPr lang="en-US" sz="4800" b="0" i="0" dirty="0">
                <a:solidFill>
                  <a:srgbClr val="555555"/>
                </a:solidFill>
                <a:effectLst/>
                <a:latin typeface="calibri" panose="020F0502020204030204" pitchFamily="34" charset="0"/>
              </a:rPr>
              <a:t>is a type of two state </a:t>
            </a:r>
            <a:r>
              <a:rPr lang="en-US" sz="4800" b="0" i="0" u="none" strike="noStrike" dirty="0">
                <a:solidFill>
                  <a:srgbClr val="337AB7"/>
                </a:solidFill>
                <a:effectLst/>
                <a:latin typeface="calibri" panose="020F0502020204030204" pitchFamily="34" charset="0"/>
                <a:hlinkClick r:id="rId3" tooltip="Button Tutorial"/>
              </a:rPr>
              <a:t>button</a:t>
            </a:r>
            <a:r>
              <a:rPr lang="en-US" sz="4800" b="0" i="0" dirty="0">
                <a:solidFill>
                  <a:srgbClr val="555555"/>
                </a:solidFill>
                <a:effectLst/>
                <a:latin typeface="calibri" panose="020F0502020204030204" pitchFamily="34" charset="0"/>
              </a:rPr>
              <a:t> either unchecked or checked in Android. Or you can say it is a type of on/off </a:t>
            </a:r>
            <a:r>
              <a:rPr lang="en-US" sz="4800" b="0" i="0" u="none" strike="noStrike" dirty="0">
                <a:solidFill>
                  <a:srgbClr val="337AB7"/>
                </a:solidFill>
                <a:effectLst/>
                <a:latin typeface="calibri" panose="020F0502020204030204" pitchFamily="34" charset="0"/>
                <a:hlinkClick r:id="rId4" tooltip="Switch Tutorial"/>
              </a:rPr>
              <a:t>switch</a:t>
            </a:r>
            <a:r>
              <a:rPr lang="en-US" sz="4800" b="0" i="0" dirty="0">
                <a:solidFill>
                  <a:srgbClr val="555555"/>
                </a:solidFill>
                <a:effectLst/>
                <a:latin typeface="calibri" panose="020F0502020204030204" pitchFamily="34" charset="0"/>
              </a:rPr>
              <a:t> that can be toggled by the users. You should use </a:t>
            </a:r>
            <a:r>
              <a:rPr lang="en-US" sz="4800" b="0" i="0" u="none" strike="noStrike" dirty="0">
                <a:solidFill>
                  <a:srgbClr val="337AB7"/>
                </a:solidFill>
                <a:effectLst/>
                <a:latin typeface="calibri" panose="020F0502020204030204" pitchFamily="34" charset="0"/>
                <a:hlinkClick r:id="rId2" tooltip="CheckBox"/>
              </a:rPr>
              <a:t>checkbox</a:t>
            </a:r>
            <a:r>
              <a:rPr lang="en-US" sz="4800" b="0" i="0" dirty="0">
                <a:solidFill>
                  <a:srgbClr val="555555"/>
                </a:solidFill>
                <a:effectLst/>
                <a:latin typeface="calibri" panose="020F0502020204030204" pitchFamily="34" charset="0"/>
              </a:rPr>
              <a:t> when presenting a group of selectable options to users that are not mutually exclusive. </a:t>
            </a:r>
            <a:r>
              <a:rPr lang="en-US" sz="4800" b="0" i="0" dirty="0" err="1">
                <a:solidFill>
                  <a:srgbClr val="555555"/>
                </a:solidFill>
                <a:effectLst/>
                <a:latin typeface="calibri" panose="020F0502020204030204" pitchFamily="34" charset="0"/>
              </a:rPr>
              <a:t>CompoundButton</a:t>
            </a:r>
            <a:r>
              <a:rPr lang="en-US" sz="4800" b="0" i="0" dirty="0">
                <a:solidFill>
                  <a:srgbClr val="555555"/>
                </a:solidFill>
                <a:effectLst/>
                <a:latin typeface="calibri" panose="020F0502020204030204" pitchFamily="34" charset="0"/>
              </a:rPr>
              <a:t> is the parent class of </a:t>
            </a:r>
            <a:r>
              <a:rPr lang="en-US" sz="4800" b="0" i="0" u="none" strike="noStrike" dirty="0" err="1">
                <a:solidFill>
                  <a:srgbClr val="337AB7"/>
                </a:solidFill>
                <a:effectLst/>
                <a:latin typeface="calibri" panose="020F0502020204030204" pitchFamily="34" charset="0"/>
                <a:hlinkClick r:id="rId2" tooltip="CheckBox"/>
              </a:rPr>
              <a:t>CheckBox</a:t>
            </a:r>
            <a:r>
              <a:rPr lang="en-US" sz="4800" b="0" i="0" dirty="0">
                <a:solidFill>
                  <a:srgbClr val="555555"/>
                </a:solidFill>
                <a:effectLst/>
                <a:latin typeface="calibri" panose="020F0502020204030204" pitchFamily="34" charset="0"/>
              </a:rPr>
              <a:t> class.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30309462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heckBox">
            <a:extLst>
              <a:ext uri="{FF2B5EF4-FFF2-40B4-BE49-F238E27FC236}">
                <a16:creationId xmlns:a16="http://schemas.microsoft.com/office/drawing/2014/main" id="{F72B13AB-4E72-A07A-505A-4BCA6A48BD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2164"/>
            <a:ext cx="12026096" cy="5951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40567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6895BA-E655-4B78-B437-C8FB29B523FD}"/>
              </a:ext>
            </a:extLst>
          </p:cNvPr>
          <p:cNvSpPr txBox="1"/>
          <p:nvPr/>
        </p:nvSpPr>
        <p:spPr>
          <a:xfrm>
            <a:off x="66468" y="69412"/>
            <a:ext cx="61403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 err="1">
                <a:solidFill>
                  <a:srgbClr val="008000"/>
                </a:solidFill>
                <a:latin typeface="calibri" panose="020F0502020204030204" pitchFamily="34" charset="0"/>
              </a:rPr>
              <a:t>CheckBOX</a:t>
            </a:r>
            <a:r>
              <a:rPr lang="en-US" sz="4400" b="1" dirty="0">
                <a:solidFill>
                  <a:srgbClr val="008000"/>
                </a:solidFill>
                <a:latin typeface="calibri" panose="020F0502020204030204" pitchFamily="34" charset="0"/>
              </a:rPr>
              <a:t> code in XML: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A056E8D-479D-13C4-BE56-3DE7878B9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197" y="1177407"/>
            <a:ext cx="10853677" cy="277253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Menlo"/>
              </a:rPr>
              <a:t>&lt;</a:t>
            </a:r>
            <a:r>
              <a:rPr kumimoji="0" lang="en-US" altLang="en-US" sz="44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Menlo"/>
              </a:rPr>
              <a:t>CheckBox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 </a:t>
            </a:r>
            <a:r>
              <a:rPr kumimoji="0" lang="en-US" altLang="en-US" sz="44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Menlo"/>
              </a:rPr>
              <a:t>android:id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=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"@+id/</a:t>
            </a:r>
            <a:r>
              <a:rPr kumimoji="0" lang="en-US" altLang="en-US" sz="44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simpleCheckBox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“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 </a:t>
            </a:r>
            <a:r>
              <a:rPr kumimoji="0" lang="en-US" altLang="en-US" sz="44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Menlo"/>
              </a:rPr>
              <a:t>android:layout_width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=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</a:t>
            </a:r>
            <a:r>
              <a:rPr kumimoji="0" lang="en-US" altLang="en-US" sz="44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wrap_content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4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Menlo"/>
              </a:rPr>
              <a:t>android:layout_height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=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</a:t>
            </a:r>
            <a:r>
              <a:rPr kumimoji="0" lang="en-US" altLang="en-US" sz="44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wrap_content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4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Menlo"/>
              </a:rPr>
              <a:t>android:text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=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"Simple </a:t>
            </a:r>
            <a:r>
              <a:rPr kumimoji="0" lang="en-US" altLang="en-US" sz="44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CheckBox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 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Menlo"/>
              </a:rPr>
              <a:t>/&gt;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204" name="Picture 12" descr="CheckBox In Android">
            <a:extLst>
              <a:ext uri="{FF2B5EF4-FFF2-40B4-BE49-F238E27FC236}">
                <a16:creationId xmlns:a16="http://schemas.microsoft.com/office/drawing/2014/main" id="{660F96BD-CB7E-1A29-8917-02415E10FC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29"/>
          <a:stretch/>
        </p:blipFill>
        <p:spPr bwMode="auto">
          <a:xfrm>
            <a:off x="2465407" y="4039600"/>
            <a:ext cx="6206836" cy="2748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95064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2A1D3-DAF9-9890-6BFD-AB4A65E66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39B5FB-584C-642E-1C88-EC330F9207AB}"/>
              </a:ext>
            </a:extLst>
          </p:cNvPr>
          <p:cNvSpPr txBox="1"/>
          <p:nvPr/>
        </p:nvSpPr>
        <p:spPr>
          <a:xfrm>
            <a:off x="66468" y="69412"/>
            <a:ext cx="61403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 err="1">
                <a:solidFill>
                  <a:srgbClr val="008000"/>
                </a:solidFill>
                <a:latin typeface="calibri" panose="020F0502020204030204" pitchFamily="34" charset="0"/>
              </a:rPr>
              <a:t>CheckBOX</a:t>
            </a:r>
            <a:r>
              <a:rPr lang="en-US" sz="4400" b="1" dirty="0">
                <a:solidFill>
                  <a:srgbClr val="008000"/>
                </a:solidFill>
                <a:latin typeface="calibri" panose="020F0502020204030204" pitchFamily="34" charset="0"/>
              </a:rPr>
              <a:t> code in XML: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2D04FAE-4DE6-0BE7-EC6A-82CBCF890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197" y="838853"/>
            <a:ext cx="10853677" cy="344964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Menlo"/>
              </a:rPr>
              <a:t>&lt;</a:t>
            </a:r>
            <a:r>
              <a:rPr kumimoji="0" lang="en-US" altLang="en-US" sz="44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Menlo"/>
              </a:rPr>
              <a:t>CheckBox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 </a:t>
            </a:r>
            <a:r>
              <a:rPr kumimoji="0" lang="en-US" altLang="en-US" sz="44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Menlo"/>
              </a:rPr>
              <a:t>android:id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=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"@+id/</a:t>
            </a:r>
            <a:r>
              <a:rPr kumimoji="0" lang="en-US" altLang="en-US" sz="44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simpleCheckBox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“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 </a:t>
            </a:r>
            <a:r>
              <a:rPr kumimoji="0" lang="en-US" altLang="en-US" sz="44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Menlo"/>
              </a:rPr>
              <a:t>android:layout_width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=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</a:t>
            </a:r>
            <a:r>
              <a:rPr kumimoji="0" lang="en-US" altLang="en-US" sz="44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wrap_content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4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Menlo"/>
              </a:rPr>
              <a:t>android:layout_height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=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</a:t>
            </a:r>
            <a:r>
              <a:rPr kumimoji="0" lang="en-US" altLang="en-US" sz="44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wrap_content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4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Menlo"/>
              </a:rPr>
              <a:t>android:text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=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"Simple </a:t>
            </a:r>
            <a:r>
              <a:rPr kumimoji="0" lang="en-US" altLang="en-US" sz="44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CheckBox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4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Menlo"/>
              </a:rPr>
              <a:t>android:checked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=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"true"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Menlo"/>
              </a:rPr>
              <a:t>/&gt;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200" name="Picture 8" descr="checked in CheckBox Android">
            <a:extLst>
              <a:ext uri="{FF2B5EF4-FFF2-40B4-BE49-F238E27FC236}">
                <a16:creationId xmlns:a16="http://schemas.microsoft.com/office/drawing/2014/main" id="{FDEF4ADE-D6DE-376F-CC8B-66BBCC8047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74"/>
          <a:stretch/>
        </p:blipFill>
        <p:spPr bwMode="auto">
          <a:xfrm>
            <a:off x="2721979" y="4288495"/>
            <a:ext cx="5984111" cy="2612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11890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2D1578-E862-4969-303E-2AB03E40BB0F}"/>
              </a:ext>
            </a:extLst>
          </p:cNvPr>
          <p:cNvSpPr txBox="1"/>
          <p:nvPr/>
        </p:nvSpPr>
        <p:spPr>
          <a:xfrm>
            <a:off x="123464" y="170640"/>
            <a:ext cx="7625788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8000"/>
                </a:solidFill>
                <a:latin typeface="calibri" panose="020F0502020204030204" pitchFamily="34" charset="0"/>
                <a:hlinkClick r:id="rId2" tooltip="RadioButt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RadioButton</a:t>
            </a:r>
            <a:r>
              <a:rPr lang="en-US" b="0" i="0" dirty="0">
                <a:solidFill>
                  <a:srgbClr val="555555"/>
                </a:solidFill>
                <a:effectLst/>
                <a:latin typeface="calibri" panose="020F0502020204030204" pitchFamily="34" charset="0"/>
              </a:rPr>
              <a:t> </a:t>
            </a:r>
            <a:r>
              <a:rPr lang="en-US" sz="4000" b="0" i="0" dirty="0">
                <a:solidFill>
                  <a:srgbClr val="555555"/>
                </a:solidFill>
                <a:effectLst/>
                <a:latin typeface="calibri" panose="020F0502020204030204" pitchFamily="34" charset="0"/>
              </a:rPr>
              <a:t>are mainly used together in a </a:t>
            </a:r>
            <a:r>
              <a:rPr lang="en-US" sz="4000" b="0" i="0" u="none" strike="noStrike" dirty="0" err="1">
                <a:solidFill>
                  <a:srgbClr val="337AB7"/>
                </a:solidFill>
                <a:effectLst/>
                <a:latin typeface="calibri" panose="020F0502020204030204" pitchFamily="34" charset="0"/>
                <a:hlinkClick r:id="rId2" tooltip="RadioGroup"/>
              </a:rPr>
              <a:t>RadioGroup</a:t>
            </a:r>
            <a:r>
              <a:rPr lang="en-US" sz="4000" b="0" i="0" dirty="0">
                <a:solidFill>
                  <a:srgbClr val="555555"/>
                </a:solidFill>
                <a:effectLst/>
                <a:latin typeface="calibri" panose="020F0502020204030204" pitchFamily="34" charset="0"/>
              </a:rPr>
              <a:t>. In </a:t>
            </a:r>
            <a:r>
              <a:rPr lang="en-US" sz="4000" b="0" i="0" u="none" strike="noStrike" dirty="0" err="1">
                <a:solidFill>
                  <a:srgbClr val="337AB7"/>
                </a:solidFill>
                <a:effectLst/>
                <a:latin typeface="calibri" panose="020F0502020204030204" pitchFamily="34" charset="0"/>
                <a:hlinkClick r:id="rId2" tooltip="RadioGroup"/>
              </a:rPr>
              <a:t>RadioGroup</a:t>
            </a:r>
            <a:r>
              <a:rPr lang="en-US" sz="4000" b="0" i="0" dirty="0">
                <a:solidFill>
                  <a:srgbClr val="555555"/>
                </a:solidFill>
                <a:effectLst/>
                <a:latin typeface="calibri" panose="020F0502020204030204" pitchFamily="34" charset="0"/>
              </a:rPr>
              <a:t> checking the one radio </a:t>
            </a:r>
            <a:r>
              <a:rPr lang="en-US" sz="4000" b="0" i="0" u="none" strike="noStrike" dirty="0">
                <a:solidFill>
                  <a:srgbClr val="337AB7"/>
                </a:solidFill>
                <a:effectLst/>
                <a:latin typeface="calibri" panose="020F0502020204030204" pitchFamily="34" charset="0"/>
                <a:hlinkClick r:id="rId3" tooltip="Button Tutorial"/>
              </a:rPr>
              <a:t>button</a:t>
            </a:r>
            <a:r>
              <a:rPr lang="en-US" sz="4000" b="0" i="0" dirty="0">
                <a:solidFill>
                  <a:srgbClr val="555555"/>
                </a:solidFill>
                <a:effectLst/>
                <a:latin typeface="calibri" panose="020F0502020204030204" pitchFamily="34" charset="0"/>
              </a:rPr>
              <a:t> out of several radio </a:t>
            </a:r>
            <a:r>
              <a:rPr lang="en-US" sz="4000" b="0" i="0" u="none" strike="noStrike" dirty="0">
                <a:solidFill>
                  <a:srgbClr val="337AB7"/>
                </a:solidFill>
                <a:effectLst/>
                <a:latin typeface="calibri" panose="020F0502020204030204" pitchFamily="34" charset="0"/>
                <a:hlinkClick r:id="rId3" tooltip="Button Tutorial"/>
              </a:rPr>
              <a:t>button</a:t>
            </a:r>
            <a:r>
              <a:rPr lang="en-US" sz="4000" b="0" i="0" dirty="0">
                <a:solidFill>
                  <a:srgbClr val="555555"/>
                </a:solidFill>
                <a:effectLst/>
                <a:latin typeface="calibri" panose="020F0502020204030204" pitchFamily="34" charset="0"/>
              </a:rPr>
              <a:t> added in it will automatically unchecked all the others. It means at one time we can checked only one radio </a:t>
            </a:r>
            <a:r>
              <a:rPr lang="en-US" sz="4000" b="0" i="0" u="none" strike="noStrike" dirty="0">
                <a:solidFill>
                  <a:srgbClr val="337AB7"/>
                </a:solidFill>
                <a:effectLst/>
                <a:latin typeface="calibri" panose="020F0502020204030204" pitchFamily="34" charset="0"/>
                <a:hlinkClick r:id="rId3" tooltip="Button Tutorial"/>
              </a:rPr>
              <a:t>button</a:t>
            </a:r>
            <a:r>
              <a:rPr lang="en-US" sz="4000" b="0" i="0" dirty="0">
                <a:solidFill>
                  <a:srgbClr val="555555"/>
                </a:solidFill>
                <a:effectLst/>
                <a:latin typeface="calibri" panose="020F0502020204030204" pitchFamily="34" charset="0"/>
              </a:rPr>
              <a:t> from a group of radio buttons which belong to same </a:t>
            </a:r>
            <a:r>
              <a:rPr lang="en-US" sz="4000" b="0" i="0" u="none" strike="noStrike" dirty="0">
                <a:solidFill>
                  <a:srgbClr val="337AB7"/>
                </a:solidFill>
                <a:effectLst/>
                <a:latin typeface="calibri" panose="020F0502020204030204" pitchFamily="34" charset="0"/>
                <a:hlinkClick r:id="rId2" tooltip="Radio Group Tutorial"/>
              </a:rPr>
              <a:t>radio group</a:t>
            </a:r>
            <a:r>
              <a:rPr lang="en-US" sz="4000" b="0" i="0" dirty="0">
                <a:solidFill>
                  <a:srgbClr val="555555"/>
                </a:solidFill>
                <a:effectLst/>
                <a:latin typeface="calibri" panose="020F0502020204030204" pitchFamily="34" charset="0"/>
              </a:rPr>
              <a:t>. </a:t>
            </a:r>
            <a:endParaRPr lang="en-US" sz="4000" dirty="0"/>
          </a:p>
        </p:txBody>
      </p:sp>
      <p:pic>
        <p:nvPicPr>
          <p:cNvPr id="13318" name="Picture 6" descr="RadioButton">
            <a:extLst>
              <a:ext uri="{FF2B5EF4-FFF2-40B4-BE49-F238E27FC236}">
                <a16:creationId xmlns:a16="http://schemas.microsoft.com/office/drawing/2014/main" id="{53118AEB-2524-D147-994B-B07E438F37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906" b="17832"/>
          <a:stretch/>
        </p:blipFill>
        <p:spPr bwMode="auto">
          <a:xfrm>
            <a:off x="7549661" y="336472"/>
            <a:ext cx="4642339" cy="6123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95631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A872C8A-851A-93A7-59DC-A1E0F1A08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2963"/>
            <a:ext cx="10820784" cy="671207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Menlo"/>
              </a:rPr>
              <a:t>&lt;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Menlo"/>
              </a:rPr>
              <a:t>RadioGroup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Menlo"/>
              </a:rPr>
              <a:t>   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Menlo"/>
              </a:rPr>
              <a:t>android:layout_width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=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wrap_content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Menlo"/>
              </a:rPr>
              <a:t>   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Menlo"/>
              </a:rPr>
              <a:t>android:layout_height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=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wrap_content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Menlo"/>
              </a:rPr>
              <a:t>&gt;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Menlo"/>
              </a:rPr>
              <a:t>	&lt;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Menlo"/>
              </a:rPr>
              <a:t>RadioButton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Menlo"/>
              </a:rPr>
              <a:t>		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Menlo"/>
              </a:rPr>
              <a:t>android:id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=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"@+id/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simpleRadioButton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Menlo"/>
              </a:rPr>
              <a:t>		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Menlo"/>
              </a:rPr>
              <a:t>android:layout_width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=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wrap_content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Menlo"/>
              </a:rPr>
              <a:t>		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Menlo"/>
              </a:rPr>
              <a:t>android:layout_height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=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wrap_content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Menlo"/>
              </a:rPr>
              <a:t>/&gt;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Menlo"/>
              </a:rPr>
              <a:t>	&lt;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Menlo"/>
              </a:rPr>
              <a:t>RadioButton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Menlo"/>
              </a:rPr>
              <a:t>		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Menlo"/>
              </a:rPr>
              <a:t>android:id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=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"@+id/simpleRadioButton1"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Menlo"/>
              </a:rPr>
              <a:t>		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Menlo"/>
              </a:rPr>
              <a:t>android:layout_width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=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wrap_content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Menlo"/>
              </a:rPr>
              <a:t>		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Menlo"/>
              </a:rPr>
              <a:t>android:layout_height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=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wrap_content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Menlo"/>
              </a:rPr>
              <a:t>/&gt;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Menlo"/>
              </a:rPr>
              <a:t>&lt;/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Menlo"/>
              </a:rPr>
              <a:t>RadioGroup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Menlo"/>
              </a:rPr>
              <a:t>&gt;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8360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1" name="Picture 5" descr="RadioButton in Android">
            <a:extLst>
              <a:ext uri="{FF2B5EF4-FFF2-40B4-BE49-F238E27FC236}">
                <a16:creationId xmlns:a16="http://schemas.microsoft.com/office/drawing/2014/main" id="{3DAD2198-72AE-79BF-FE14-013CEBF2C1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4025" y="329878"/>
            <a:ext cx="8743950" cy="6198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18644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5C0BE4-CF56-A2A4-D86D-21DD2D3A20D7}"/>
              </a:ext>
            </a:extLst>
          </p:cNvPr>
          <p:cNvSpPr txBox="1"/>
          <p:nvPr/>
        </p:nvSpPr>
        <p:spPr>
          <a:xfrm>
            <a:off x="0" y="0"/>
            <a:ext cx="5638800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008000"/>
                </a:solidFill>
                <a:latin typeface="calibri" panose="020F0502020204030204" pitchFamily="34" charset="0"/>
              </a:rPr>
              <a:t>Button</a:t>
            </a:r>
            <a:r>
              <a:rPr lang="en-US" b="0" i="0" dirty="0">
                <a:solidFill>
                  <a:srgbClr val="555555"/>
                </a:solidFill>
                <a:effectLst/>
                <a:latin typeface="calibri" panose="020F0502020204030204" pitchFamily="34" charset="0"/>
              </a:rPr>
              <a:t> </a:t>
            </a:r>
            <a:r>
              <a:rPr lang="en-US" sz="4000" b="0" i="0" dirty="0">
                <a:solidFill>
                  <a:srgbClr val="555555"/>
                </a:solidFill>
                <a:effectLst/>
                <a:latin typeface="calibri" panose="020F0502020204030204" pitchFamily="34" charset="0"/>
              </a:rPr>
              <a:t>represents a push </a:t>
            </a:r>
            <a:r>
              <a:rPr lang="en-US" sz="4000" b="0" i="0" u="none" strike="noStrike" dirty="0">
                <a:solidFill>
                  <a:srgbClr val="337AB7"/>
                </a:solidFill>
                <a:effectLst/>
                <a:latin typeface="calibri" panose="020F0502020204030204" pitchFamily="34" charset="0"/>
                <a:hlinkClick r:id="rId2" tooltip="Button Tutorial"/>
              </a:rPr>
              <a:t>button</a:t>
            </a:r>
            <a:r>
              <a:rPr lang="en-US" sz="4000" b="0" i="0" dirty="0">
                <a:solidFill>
                  <a:srgbClr val="555555"/>
                </a:solidFill>
                <a:effectLst/>
                <a:latin typeface="calibri" panose="020F0502020204030204" pitchFamily="34" charset="0"/>
              </a:rPr>
              <a:t>. A Push buttons can be clicked, or pressed by the user to perform an action. There are different types of buttons used in android such as </a:t>
            </a:r>
            <a:r>
              <a:rPr lang="en-US" sz="4000" b="0" i="0" dirty="0" err="1">
                <a:solidFill>
                  <a:srgbClr val="555555"/>
                </a:solidFill>
                <a:effectLst/>
                <a:latin typeface="calibri" panose="020F0502020204030204" pitchFamily="34" charset="0"/>
              </a:rPr>
              <a:t>CompoundButton</a:t>
            </a:r>
            <a:r>
              <a:rPr lang="en-US" sz="4000" b="0" i="0" dirty="0">
                <a:solidFill>
                  <a:srgbClr val="555555"/>
                </a:solidFill>
                <a:effectLst/>
                <a:latin typeface="calibri" panose="020F0502020204030204" pitchFamily="34" charset="0"/>
              </a:rPr>
              <a:t>, </a:t>
            </a:r>
            <a:r>
              <a:rPr lang="en-US" sz="4000" b="0" i="0" u="none" strike="noStrike" dirty="0" err="1">
                <a:solidFill>
                  <a:srgbClr val="337AB7"/>
                </a:solidFill>
                <a:effectLst/>
                <a:latin typeface="calibri" panose="020F0502020204030204" pitchFamily="34" charset="0"/>
                <a:hlinkClick r:id="rId3" tooltip="ToggleButton"/>
              </a:rPr>
              <a:t>ToggleButton</a:t>
            </a:r>
            <a:r>
              <a:rPr lang="en-US" sz="4000" b="0" i="0" dirty="0">
                <a:solidFill>
                  <a:srgbClr val="555555"/>
                </a:solidFill>
                <a:effectLst/>
                <a:latin typeface="calibri" panose="020F0502020204030204" pitchFamily="34" charset="0"/>
              </a:rPr>
              <a:t>, </a:t>
            </a:r>
            <a:r>
              <a:rPr lang="en-US" sz="4000" b="0" i="0" u="none" strike="noStrike" dirty="0" err="1">
                <a:solidFill>
                  <a:srgbClr val="337AB7"/>
                </a:solidFill>
                <a:effectLst/>
                <a:latin typeface="calibri" panose="020F0502020204030204" pitchFamily="34" charset="0"/>
                <a:hlinkClick r:id="rId4" tooltip="RadioButton"/>
              </a:rPr>
              <a:t>RadioButton</a:t>
            </a:r>
            <a:r>
              <a:rPr lang="en-US" sz="4000" b="0" i="0" dirty="0">
                <a:solidFill>
                  <a:srgbClr val="555555"/>
                </a:solidFill>
                <a:effectLst/>
                <a:latin typeface="calibri" panose="020F0502020204030204" pitchFamily="34" charset="0"/>
              </a:rPr>
              <a:t>.</a:t>
            </a:r>
            <a:endParaRPr lang="en-US" sz="4000" dirty="0"/>
          </a:p>
        </p:txBody>
      </p:sp>
      <p:pic>
        <p:nvPicPr>
          <p:cNvPr id="11266" name="Picture 2" descr="Button Example Android">
            <a:extLst>
              <a:ext uri="{FF2B5EF4-FFF2-40B4-BE49-F238E27FC236}">
                <a16:creationId xmlns:a16="http://schemas.microsoft.com/office/drawing/2014/main" id="{50AA42BC-90F0-65DA-0670-A7A4F3E38F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05"/>
          <a:stretch/>
        </p:blipFill>
        <p:spPr bwMode="auto">
          <a:xfrm>
            <a:off x="6096000" y="77780"/>
            <a:ext cx="4110991" cy="6432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24791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22A196-A7CD-7CAE-344C-F662582C6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614" y="707626"/>
            <a:ext cx="12768626" cy="449608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Menlo"/>
              </a:rPr>
              <a:t>&lt;Button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Menlo"/>
              </a:rPr>
              <a:t>android:id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=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"@+id/</a:t>
            </a:r>
            <a:r>
              <a:rPr kumimoji="0" lang="en-US" altLang="en-US" sz="48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simpleButton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Menlo"/>
              </a:rPr>
              <a:t>android:layout_width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=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</a:t>
            </a:r>
            <a:r>
              <a:rPr kumimoji="0" lang="en-US" altLang="en-US" sz="48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fill_parent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Menlo"/>
              </a:rPr>
              <a:t>android:layout_height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=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</a:t>
            </a:r>
            <a:r>
              <a:rPr kumimoji="0" lang="en-US" altLang="en-US" sz="48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wrap_content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Menlo"/>
              </a:rPr>
              <a:t>android:layout_centerInParent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=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"true"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Menlo"/>
              </a:rPr>
              <a:t>android:text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=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"Learn Android @ </a:t>
            </a:r>
            <a:r>
              <a:rPr kumimoji="0" lang="en-US" altLang="en-US" sz="48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AbhiAndroid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Menlo"/>
              </a:rPr>
              <a:t>/&gt;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339" name="Picture 3" descr="Setting Text on Button in Android">
            <a:extLst>
              <a:ext uri="{FF2B5EF4-FFF2-40B4-BE49-F238E27FC236}">
                <a16:creationId xmlns:a16="http://schemas.microsoft.com/office/drawing/2014/main" id="{ABB23E70-E479-82EC-98F8-128B84E240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577" b="15328"/>
          <a:stretch/>
        </p:blipFill>
        <p:spPr bwMode="auto">
          <a:xfrm>
            <a:off x="1726692" y="5577840"/>
            <a:ext cx="8316378" cy="1165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2396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Setting Text on Button in Android">
            <a:extLst>
              <a:ext uri="{FF2B5EF4-FFF2-40B4-BE49-F238E27FC236}">
                <a16:creationId xmlns:a16="http://schemas.microsoft.com/office/drawing/2014/main" id="{CCB73681-12BD-1FEC-0D39-F1F8F0A624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66"/>
          <a:stretch/>
        </p:blipFill>
        <p:spPr bwMode="auto">
          <a:xfrm>
            <a:off x="2987040" y="161561"/>
            <a:ext cx="6217920" cy="6534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29068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59BFEA-C04C-0739-A748-5775A694DE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04790"/>
            <a:ext cx="12301957" cy="1910759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Menlo"/>
              </a:rPr>
              <a:t>Button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button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 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=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 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(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Menlo"/>
              </a:rPr>
              <a:t>Button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)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findViewById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(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R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.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id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.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simpleButton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);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button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.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enlo"/>
              </a:rPr>
              <a:t>setText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(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Menlo"/>
              </a:rPr>
              <a:t>ABHIANDROID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Menlo"/>
              </a:rPr>
              <a:t>"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Menlo"/>
              </a:rPr>
              <a:t>);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880000"/>
                </a:solidFill>
                <a:effectLst/>
                <a:latin typeface="Menlo"/>
              </a:rPr>
              <a:t>//set the text on button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388" name="Picture 4" descr="Setting Text Color on Button in Android">
            <a:extLst>
              <a:ext uri="{FF2B5EF4-FFF2-40B4-BE49-F238E27FC236}">
                <a16:creationId xmlns:a16="http://schemas.microsoft.com/office/drawing/2014/main" id="{CEE3CA7A-DC68-43FE-D4A0-CF3F8608B1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304"/>
          <a:stretch/>
        </p:blipFill>
        <p:spPr bwMode="auto">
          <a:xfrm>
            <a:off x="5008245" y="2315549"/>
            <a:ext cx="5680710" cy="4434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7457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1298</Words>
  <Application>Microsoft Office PowerPoint</Application>
  <PresentationFormat>Widescreen</PresentationFormat>
  <Paragraphs>74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Arial</vt:lpstr>
      <vt:lpstr>Arial Black</vt:lpstr>
      <vt:lpstr>Calibri</vt:lpstr>
      <vt:lpstr>Calibri</vt:lpstr>
      <vt:lpstr>Calibri Light</vt:lpstr>
      <vt:lpstr>Consolas</vt:lpstr>
      <vt:lpstr>Menlo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&lt;TextView android:id="@+id/simpleTextView"  android:layout_width="wrap_content"  android:layout_height="wrap_content"  android:text="AbhiAndroid" /&gt;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krishan murari</dc:creator>
  <cp:lastModifiedBy>amit bhandari</cp:lastModifiedBy>
  <cp:revision>2</cp:revision>
  <dcterms:created xsi:type="dcterms:W3CDTF">2024-02-27T16:24:54Z</dcterms:created>
  <dcterms:modified xsi:type="dcterms:W3CDTF">2024-02-28T04:34:56Z</dcterms:modified>
</cp:coreProperties>
</file>